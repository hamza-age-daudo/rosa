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76" r:id="rId1"/>
  </p:sldMasterIdLst>
  <p:notesMasterIdLst>
    <p:notesMasterId r:id="rId17"/>
  </p:notesMasterIdLst>
  <p:sldIdLst>
    <p:sldId id="256" r:id="rId2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8"/>
    <p:sldId id="266" r:id="rId7"/>
    <p:sldId id="267" r:id="rId6"/>
    <p:sldId id="268" r:id="rId5"/>
  </p:sldIdLst>
  <p:sldSz cx="9144000" cy="6858000" type="screen4x3"/>
  <p:notesSz cx="6858000" cy="9144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gina M" initials="RM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FF0000"/>
    <a:srgbClr val="0000FF"/>
    <a:srgbClr val="00FF00"/>
    <a:srgbClr val="4E88E7"/>
    <a:srgbClr val="3CC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em Estilo, Sem Grelh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Destaqu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Destaqu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4660"/>
  </p:normalViewPr>
  <p:slideViewPr>
    <p:cSldViewPr>
      <p:cViewPr varScale="1">
        <p:scale>
          <a:sx n="59" d="100"/>
          <a:sy n="59" d="100"/>
        </p:scale>
        <p:origin x="1456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5EEFCDE-C5B4-4BB3-BCB7-4D6143FAF13B}" type="datetimeFigureOut">
              <a:rPr lang="pt-PT"/>
              <a:pPr>
                <a:defRPr/>
              </a:pPr>
              <a:t>27/07/2026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PT" noProof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noProof="0"/>
              <a:t>Editar os estilos de texto do Modelo Global</a:t>
            </a:r>
          </a:p>
          <a:p>
            <a:pPr lvl="1"/>
            <a:r>
              <a:rPr lang="pt-PT" noProof="0"/>
              <a:t>Segundo nível</a:t>
            </a:r>
          </a:p>
          <a:p>
            <a:pPr lvl="2"/>
            <a:r>
              <a:rPr lang="pt-PT" noProof="0"/>
              <a:t>Terceiro nível</a:t>
            </a:r>
          </a:p>
          <a:p>
            <a:pPr lvl="3"/>
            <a:r>
              <a:rPr lang="pt-PT" noProof="0"/>
              <a:t>Quarto nível</a:t>
            </a:r>
          </a:p>
          <a:p>
            <a:pPr lvl="4"/>
            <a:r>
              <a:rPr lang="pt-PT" noProof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A5B0778-C889-489C-9B48-C8553784C694}" type="slidenum">
              <a:rPr lang="pt-PT" altLang="pt-BR"/>
              <a:pPr>
                <a:defRPr/>
              </a:pPr>
              <a:t>‹nº›</a:t>
            </a:fld>
            <a:endParaRPr lang="pt-PT" altLang="pt-BR"/>
          </a:p>
        </p:txBody>
      </p:sp>
    </p:spTree>
    <p:extLst>
      <p:ext uri="{BB962C8B-B14F-4D97-AF65-F5344CB8AC3E}">
        <p14:creationId xmlns:p14="http://schemas.microsoft.com/office/powerpoint/2010/main" val="36912210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ATENCAO: preencher o nome do orientador - a folha de rosto diz apenas 'Orientador: Dr.'. Abertura: chamo-me Muanchura Ossufo Sualehe e vou apresentar o protocolo de um inquerito de conhecimento, atitudes e praticas sobre prevencao da cegueira numa comunidade rural de Monapo. (1 minuto.)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B0778-C889-489C-9B48-C8553784C694}" type="slidenum">
              <a:rPr lang="pt-PT" altLang="pt-BR" smtClean="0"/>
              <a:pPr>
                <a:defRPr/>
              </a:pPr>
              <a:t>1</a:t>
            </a:fld>
            <a:endParaRPr lang="pt-PT" altLang="pt-BR"/>
          </a:p>
        </p:txBody>
      </p:sp>
    </p:spTree>
    <p:extLst>
      <p:ext uri="{BB962C8B-B14F-4D97-AF65-F5344CB8AC3E}">
        <p14:creationId xmlns:p14="http://schemas.microsoft.com/office/powerpoint/2010/main" val="564973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Enquadramento em 2-3 minutos. Detalhe: presbiopia nao corrigida 826 milhoes, catarata nao operada 94 milhoes, erros refractivos 88,4 milhoes. A catarata explica cerca de 15,2 milhoes de cegos com 50 anos ou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desigualdade de genero na cobertura cirurgica (40 % contra 19,4 %) e um dos dados mais eloquentes do enquadramento. Uma revisao sistematica africana mostrou que a cobertura masculina superou a feminina em 15 de 17 populacoes estudadas.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e o mapa do protocolo. Alinhamento estrategico: metas globais de saude ocular para 2030 aprovadas pela 74.a Assembleia Mundial da Saude - mais 40 pontos percentuais na cobertura efectiva de erros refractivos e mais 30 pontos na cirurgia de catarata.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escolha de amostragem probabilistica e um dos pontos mais fortes do protocolo - a maioria dos TCC recorre a conveniencia e depois faz inferencia, o que e metodologicamente fragil. Se perguntarem porque conglomerados e nao aleatoria simples: porque nao existe lista nominal completa dos residentes que sirva de base de sondagem, e a dispersao geografica rural tornaria a aleatoria simples inviavel.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Levar este slide preparado transforma a maior fragilidade do protocolo numa demonstracao de dominio: o candidato identificou a lacuna antes do revisor e sabe exactamente como a resolver. Se a comissao perguntar 'qual e o tamanho da amostra?', tenha o numero calculado.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perguntarem como garante que o questionario mede o que diz medir em Emakhuwa: adaptacao transcultural, traducao, pre-teste e KR-20/Cronbach. Considere mencionar a RETROVERSAO (back-translation) como reforco - o protocolo nao a menciona explicitamente.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perguntarem se vai medir a acuidade visual: NAO - o estudo e CAP, nao epidemiologico. Mas ha via de referenciacao. Esta distincao tem de ficar clara.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da arte tem leitura critica, nao e apenas descritivo. Veja-se Abumhadi: 79,3 % com atitude favoravel, mas so 27,8 % faz exame ocular regular. Esse fosso e exactamente o objecto do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Vies de desejabilidade social nas praticas auto-reportadas e uma limitacao real dos inqueritos CAP. Mitigacoes: entrevistadores treinados e externos a comunidade, garantia de anonimato e perguntas formuladas de forma nao avaliativa. Mencione-a como limitacao assumida.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Levar este slide preparado mostra que o candidato conhece as fragilidades do proprio documento. A correccao numero 1 e a que a comissao vai levantar.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Nao leia este slide. A numeracao aqui e da seleccao, nao a do protocolo.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ATENCAO: preencher o nome do orientador antes de imprimir. Agradecimentos curtos (30 segundos).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33"/>
            <a:ext cx="7772400" cy="1470025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7BDD-6D72-4783-81B4-1F389BA9ECBE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813FFD-84C0-4201-9513-54307B3D421A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647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D3FA3-DF6A-4FE0-AB30-0CDEE531DE77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913098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7BDD-6D72-4783-81B4-1F389BA9ECBE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B0D09C-6067-4EEE-912E-C47DF7D76892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246320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46290-71F6-43B3-9B7E-CACA7A2267DC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96603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7BDD-6D72-4783-81B4-1F389BA9ECBE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8A003C-DFC6-49D1-BDC3-7B85D2A69956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65572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7BDD-6D72-4783-81B4-1F389BA9ECBE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524007-137B-4184-9ACD-80BA2C5E062B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76210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7BDD-6D72-4783-81B4-1F389BA9ECBE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0B502A-626E-4838-BE14-98CB77714816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60065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7BDD-6D72-4783-81B4-1F389BA9ECBE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48081E-D712-4EEF-A959-A739C35DAB8A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92655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7BDD-6D72-4783-81B4-1F389BA9ECBE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0D76BC-04B3-419B-9E7F-403359F14A35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87141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7BDD-6D72-4783-81B4-1F389BA9ECBE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126E7D-27BF-499E-B2E0-06FA5834F79B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71684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6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6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7BDD-6D72-4783-81B4-1F389BA9ECBE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B57D4B-835D-439B-95C2-F2E7B3E6687F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175199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C7BDD-6D72-4783-81B4-1F389BA9ECBE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CFFE40E-3D22-460B-8A3C-8D9D3F6B67DE}" type="slidenum">
              <a:rPr lang="pt-PT" altLang="en-US" smtClean="0"/>
              <a:pPr>
                <a:defRPr/>
              </a:pPr>
              <a:t>‹nº›</a:t>
            </a:fld>
            <a:endParaRPr lang="pt-PT" altLang="en-US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6928" y="2103120"/>
            <a:ext cx="8046720" cy="2487168"/>
          </a:xfrm>
        </p:spPr>
        <p:txBody>
          <a:bodyPr rtlCol="0" wrap="square" anchor="ctr">
            <a:noAutofit/>
          </a:bodyPr>
          <a:lstStyle/>
          <a:p>
            <a:pPr marL="0" indent="0" algn="ctr">
              <a:buNone/>
            </a:pPr>
            <a:br>
              <a:rPr lang="pt-PT" sz="2800" b="1" dirty="0">
                <a:latin typeface="+mn-lt"/>
                <a:cs typeface="Times New Roman" panose="02020603050405020304" pitchFamily="18" charset="0"/>
              </a:rPr>
            </a:br>
            <a:br>
              <a:rPr lang="pt-PT" sz="2800" b="1" dirty="0">
                <a:latin typeface="+mn-lt"/>
                <a:cs typeface="Times New Roman" panose="02020603050405020304" pitchFamily="18" charset="0"/>
              </a:rPr>
            </a:br>
            <a:br>
              <a:rPr lang="pt-PT" sz="2800" b="1" dirty="0">
                <a:latin typeface="+mn-lt"/>
              </a:rPr>
            </a:br>
            <a:br>
              <a:rPr lang="pt-PT" sz="2800" b="1" dirty="0">
                <a:latin typeface="+mn-lt"/>
              </a:rPr>
            </a:br>
            <a:r>
              <a:rPr sz="2500" b="1" i="0">
                <a:solidFill>
                  <a:srgbClr val="1A1A1A"/>
                </a:solidFill>
                <a:latin typeface="Calibri"/>
              </a:rPr>
              <a:t>Conhecimento, atitudes e práticas sobre a prevenção da cegueira numa comunidade rural do distrito de Monapo, província de Nampula, 2027</a:t>
            </a:r>
            <a:endParaRPr lang="pt-PT" sz="2800" b="1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48640" y="4773168"/>
            <a:ext cx="3840480" cy="960120"/>
          </a:xfrm>
        </p:spPr>
        <p:txBody>
          <a:bodyPr rtlCol="0" wrap="square">
            <a:noAutofit/>
          </a:bodyPr>
          <a:lstStyle/>
          <a:p>
            <a:pPr algn="l" marL="0" indent="0">
              <a:spcAft>
                <a:spcPts val="0"/>
              </a:spcAft>
              <a:buNone/>
              <a:defRPr/>
            </a:pPr>
            <a:r>
              <a:rPr sz="1700" b="1">
                <a:solidFill>
                  <a:srgbClr val="1A1A1A"/>
                </a:solidFill>
                <a:latin typeface="Calibri"/>
              </a:rPr>
              <a:t>Candidato: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700" b="0">
                <a:solidFill>
                  <a:srgbClr val="1A1A1A"/>
                </a:solidFill>
                <a:latin typeface="Calibri"/>
              </a:rPr>
              <a:t>Muanchura Ossufo Sualehé</a:t>
            </a:r>
          </a:p>
        </p:txBody>
      </p:sp>
      <p:sp>
        <p:nvSpPr>
          <p:cNvPr id="5124" name="Subtitle 5"/>
          <p:cNvSpPr txBox="1">
            <a:spLocks/>
          </p:cNvSpPr>
          <p:nvPr/>
        </p:nvSpPr>
        <p:spPr bwMode="auto">
          <a:xfrm>
            <a:off x="2103120" y="658368"/>
            <a:ext cx="576072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 marL="0" indent="0">
              <a:spcAft>
                <a:spcPts val="0"/>
              </a:spcAft>
              <a:buNone/>
              <a:defRPr/>
            </a:pPr>
            <a:r>
              <a:rPr sz="2000" b="1">
                <a:solidFill>
                  <a:srgbClr val="1A1A1A"/>
                </a:solidFill>
                <a:latin typeface="Calibri"/>
              </a:rPr>
              <a:t>FACULDADE DE CIÊNCIAS DE SAÚDE</a:t>
            </a:r>
            <a:endParaRPr lang="pt-PT" altLang="en-US" sz="2400" b="1" dirty="0">
              <a:cs typeface="Arial" panose="020B0604020202020204" pitchFamily="34" charset="0"/>
            </a:endParaRPr>
          </a:p>
          <a:p>
            <a:pPr marL="0" indent="0" algn="ctr">
              <a:spcAft>
                <a:spcPts val="0"/>
              </a:spcAft>
              <a:buNone/>
            </a:pPr>
            <a:r>
              <a:rPr sz="2000" b="1">
                <a:solidFill>
                  <a:srgbClr val="1A1A1A"/>
                </a:solidFill>
                <a:latin typeface="Calibri"/>
              </a:rPr>
              <a:t>Curso de Licenciatura em Optometria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2000" b="1">
                <a:solidFill>
                  <a:srgbClr val="1A1A1A"/>
                </a:solidFill>
                <a:latin typeface="Calibri"/>
              </a:rPr>
              <a:t>Protocolo de Investigação</a:t>
            </a:r>
          </a:p>
        </p:txBody>
      </p:sp>
      <p:sp>
        <p:nvSpPr>
          <p:cNvPr id="5125" name="Subtítulo 2"/>
          <p:cNvSpPr txBox="1">
            <a:spLocks/>
          </p:cNvSpPr>
          <p:nvPr/>
        </p:nvSpPr>
        <p:spPr bwMode="auto">
          <a:xfrm>
            <a:off x="4434840" y="4773168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 marL="0" indent="0">
              <a:spcAft>
                <a:spcPts val="200"/>
              </a:spcAft>
              <a:buNone/>
              <a:defRPr/>
            </a:pPr>
            <a:r>
              <a:rPr sz="1500" b="1" i="0">
                <a:solidFill>
                  <a:srgbClr val="1A1A1A"/>
                </a:solidFill>
                <a:latin typeface="Calibri"/>
              </a:rPr>
              <a:t>Orientador: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(a preencher)</a:t>
            </a:r>
            <a:endParaRPr lang="pt-PT" sz="1600" dirty="0">
              <a:solidFill>
                <a:srgbClr val="558ED5"/>
              </a:solidFill>
              <a:cs typeface="Arial" panose="020B0604020202020204" pitchFamily="34" charset="0"/>
            </a:endParaRPr>
          </a:p>
        </p:txBody>
      </p:sp>
      <p:sp>
        <p:nvSpPr>
          <p:cNvPr id="5126" name="Retângulo 3"/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2788920" y="6053328"/>
            <a:ext cx="4023360" cy="50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 marL="0" indent="0">
              <a:buFontTx/>
              <a:buNone/>
            </a:pPr>
            <a:r>
              <a:rPr sz="1700" b="0" i="0">
                <a:solidFill>
                  <a:srgbClr val="1A1A1A"/>
                </a:solidFill>
                <a:latin typeface="Calibri"/>
              </a:rPr>
              <a:t>Nampula,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498348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Wingdings"/>
              <a:buChar char="q"/>
            </a:pPr>
            <a:r>
              <a:rPr sz="1600" b="1" i="0">
                <a:solidFill>
                  <a:srgbClr val="1A1A1A"/>
                </a:solidFill>
                <a:latin typeface="Calibri"/>
              </a:rPr>
              <a:t>2,2 mil milhões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de pessoas vivem com deficiência visual; em 2020 havia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43,3 milhões de cegos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e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295 milhões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com deficiência visual moderada a grave.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Wingdings"/>
              <a:buChar char="q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Apesar de a prevalência padronizada por idade estar a descer,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o número absoluto de cegos aumentou </a:t>
            </a:r>
            <a:r>
              <a:rPr sz="1600" b="1" i="0">
                <a:solidFill>
                  <a:srgbClr val="1F497D"/>
                </a:solidFill>
                <a:latin typeface="Calibri"/>
              </a:rPr>
              <a:t>50,6 %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 entre 1990 e 2020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, por crescimento e envelhecimento populacional — e projectam-se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61 milhões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em 2050.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Wingdings"/>
              <a:buChar char="q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As principais causas são a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catarata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(responsável por ~45 % de toda a cegueira nos ≥ 50 anos) e os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erros refractivos não corrigidos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Wingdings"/>
              <a:buChar char="q"/>
            </a:pPr>
            <a:r>
              <a:rPr sz="1600" b="1" i="0">
                <a:solidFill>
                  <a:srgbClr val="1A1A1A"/>
                </a:solidFill>
                <a:latin typeface="Calibri"/>
              </a:rPr>
              <a:t>Desigualdade brutal: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as taxas de cegueira na África subsariana chegam a ser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oito vezes superiores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às das regiões de rendimento elevado.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4F81BD"/>
              </a:buClr>
              <a:buFont typeface="Wingdings"/>
              <a:buChar char="q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O custo económico ronda os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411 mil milhões USD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em perda de produtividade (2020).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207008"/>
            <a:ext cx="2971800" cy="192024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O facto que sustenta tudo</a:t>
            </a:r>
          </a:p>
          <a:p>
            <a:pPr algn="ctr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~90 % da perda de visão é evitável ou tratável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— e a maioria dos casos resolver-se-ia com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cirurgia de catarata ou simplesmente com óculos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3355848"/>
            <a:ext cx="2971800" cy="23317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i="0">
                <a:solidFill>
                  <a:srgbClr val="1F497D"/>
                </a:solidFill>
                <a:latin typeface="Calibri"/>
              </a:rPr>
              <a:t>Meta-análise africana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1F497D"/>
                </a:solidFill>
                <a:latin typeface="Calibri"/>
              </a:rPr>
              <a:t>77 estudos, 191.173 participantes, 26 países</a:t>
            </a:r>
            <a:r>
              <a:rPr sz="1350" b="0" i="0">
                <a:solidFill>
                  <a:srgbClr val="1F497D"/>
                </a:solidFill>
                <a:latin typeface="Calibri"/>
              </a:rPr>
              <a:t>: prevalência agregada de cegueira de </a:t>
            </a:r>
            <a:r>
              <a:rPr sz="1350" b="1" i="0">
                <a:solidFill>
                  <a:srgbClr val="1F497D"/>
                </a:solidFill>
                <a:latin typeface="Calibri"/>
              </a:rPr>
              <a:t>10 %</a:t>
            </a:r>
            <a:r>
              <a:rPr sz="1350" b="0" i="0">
                <a:solidFill>
                  <a:srgbClr val="1F497D"/>
                </a:solidFill>
                <a:latin typeface="Calibri"/>
              </a:rPr>
              <a:t>, com a </a:t>
            </a:r>
            <a:r>
              <a:rPr sz="1350" b="1" i="0">
                <a:solidFill>
                  <a:srgbClr val="1F497D"/>
                </a:solidFill>
                <a:latin typeface="Calibri"/>
              </a:rPr>
              <a:t>catarata a explicar 46 %</a:t>
            </a:r>
            <a:r>
              <a:rPr sz="1350" b="0" i="0">
                <a:solidFill>
                  <a:srgbClr val="1F497D"/>
                </a:solidFill>
                <a:latin typeface="Calibri"/>
              </a:rPr>
              <a:t> e o </a:t>
            </a:r>
            <a:r>
              <a:rPr sz="1350" b="1" i="0">
                <a:solidFill>
                  <a:srgbClr val="1F497D"/>
                </a:solidFill>
                <a:latin typeface="Calibri"/>
              </a:rPr>
              <a:t>glaucoma 14 %</a:t>
            </a:r>
            <a:r>
              <a:rPr sz="1350" b="0" i="0">
                <a:solidFill>
                  <a:srgbClr val="1F497D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3100" b="1" i="0">
                <a:solidFill>
                  <a:srgbClr val="000000"/>
                </a:solidFill>
                <a:latin typeface="Calibri"/>
              </a:rPr>
              <a:t>O CONTEXTO MOÇAMBICANO E A LACUNA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25295"/>
          <a:ext cx="8138159" cy="2331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23443"/>
                <a:gridCol w="5314716"/>
              </a:tblGrid>
              <a:tr h="35661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Estudo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Achado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RAAB Nampula (2011 → 2018)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97D"/>
                          </a:solidFill>
                          <a:latin typeface="Calibri"/>
                        </a:rPr>
                        <a:t>Cegueira nos ≥ 50 anos: 6,2 % → 4,5 %. Cobertura cirúrgica: 40,0 % (homens) vs 19,4 % (mulheres)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Sengo (2021), 5 distritos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Entre jovens: erro refractivo 24,7 %; deficiência visual não corrigida 18,3 %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Sengo (2022), n = 338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49,4 % com sintomas oculares · 41,7 % sem exame actualizado · 20,4 % de automedicação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Thompson (2015), n = 4.601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Barreiras: custo 53 % · falta de necessidade sentida 28 % · distância 15 %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Tracoma (2012–2022)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20 distritos com TF ≥ 10 %, incluindo focos hiperendémicos em Nampula; transmissão persistente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Recursos humanos (2021)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B03A2B"/>
                          </a:solidFill>
                          <a:latin typeface="Calibri"/>
                        </a:rPr>
                        <a:t>Toda a província de Nampula: 4 oftalmologistas, 8 optometristas e 46 técnicos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703320"/>
            <a:ext cx="8138160" cy="105156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A LACUNA QUE O ESTUDO PREENCHE</a:t>
            </a:r>
          </a:p>
          <a:p>
            <a:pPr algn="ctr"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alibri"/>
              </a:rPr>
              <a:t>Existe evidência sobre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prevalência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e sobre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barreiras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em Nampula —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mas nenhum estudo avalia de forma integrada o conhecimento, as atitudes e as práticas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numa comunidade rural, e nenhum no distrito de Monapo.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937760"/>
            <a:ext cx="8138160" cy="105156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Porque importa medir CAP:</a:t>
            </a:r>
            <a:r>
              <a:rPr sz="1500" b="0" i="0">
                <a:solidFill>
                  <a:srgbClr val="1F497D"/>
                </a:solidFill>
                <a:latin typeface="Calibri"/>
              </a:rPr>
              <a:t> Du (2022), China rural, n = 1.495 —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bom conhecimento sobre a catarata associou-se a probabilidade de cirurgia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4,92 vezes superior</a:t>
            </a:r>
            <a:r>
              <a:rPr sz="1500" b="0" i="0">
                <a:solidFill>
                  <a:srgbClr val="1F497D"/>
                </a:solidFill>
                <a:latin typeface="Calibri"/>
              </a:rPr>
              <a:t>. O conhecimento não é um fim em si: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é um determinante do acesso</a:t>
            </a:r>
            <a:r>
              <a:rPr sz="1500" b="0" i="0">
                <a:solidFill>
                  <a:srgbClr val="1F497D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OBJECTIVOS E HIPÓTESES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sp>
        <p:nvSpPr>
          <p:cNvPr id="4" name="Rounded Rectangle 3"/>
          <p:cNvSpPr/>
          <p:nvPr/>
        </p:nvSpPr>
        <p:spPr>
          <a:xfrm>
            <a:off x="502920" y="1161288"/>
            <a:ext cx="8138160" cy="100584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OBJECTIVO GERAL</a:t>
            </a:r>
          </a:p>
          <a:p>
            <a:pPr algn="ctr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Avaliar o conhecimento, as atitudes e as práticas sobre a prevenção da cegueira na comunidade rural do distrito de Monapo, em 2027.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39319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Objectivos específicos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944368"/>
            <a:ext cx="402336" cy="40233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880360"/>
            <a:ext cx="7479792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Calibri"/>
              </a:rPr>
              <a:t>Caracterizar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o perfil sociodemográfico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3547871"/>
            <a:ext cx="402336" cy="40233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83863"/>
            <a:ext cx="7479792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Calibri"/>
              </a:rPr>
              <a:t>Identificar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o nível de conhecimento sobre causas e formas de prevenção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4151376"/>
            <a:ext cx="402336" cy="40233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4087368"/>
            <a:ext cx="7479792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Calibri"/>
              </a:rPr>
              <a:t>Analisar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as atitudes perante a saúde ocular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754880"/>
            <a:ext cx="402336" cy="40233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690872"/>
            <a:ext cx="7479792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Calibri"/>
              </a:rPr>
              <a:t>Descrever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as práticas de prevenção e tratamento, incluindo as barreiras ao acesso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5358384"/>
            <a:ext cx="402336" cy="40233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5294376"/>
            <a:ext cx="7479792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Calibri"/>
              </a:rPr>
              <a:t>Analisar a associação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entre o nível de instrução e outros factores sociodemográficos e as práticas de prevenção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04688"/>
            <a:ext cx="81381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4F81BD"/>
              </a:buClr>
              <a:buFont typeface="Wingdings"/>
              <a:buChar char="q"/>
            </a:pPr>
            <a:r>
              <a:rPr sz="1400" b="1" i="0">
                <a:solidFill>
                  <a:srgbClr val="1F497D"/>
                </a:solidFill>
                <a:latin typeface="Calibri"/>
              </a:rPr>
              <a:t>H0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— não existe associação significativa entre o nível de conhecimento e os factores sociodemográficos.  · 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H1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— existe associação significativa.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METODOLOGIA — DESENHO E AMOSTRAGEM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sp>
        <p:nvSpPr>
          <p:cNvPr id="4" name="Rounded Rectangle 3"/>
          <p:cNvSpPr/>
          <p:nvPr/>
        </p:nvSpPr>
        <p:spPr>
          <a:xfrm>
            <a:off x="502920" y="1161288"/>
            <a:ext cx="2587752" cy="11887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1. Desenho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Corte transversal analítico, quantitativo — inquérito CAP; reporte segundo o ChecKAP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0672" y="1554480"/>
            <a:ext cx="18288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F81BD"/>
                </a:solidFill>
                <a:latin typeface="Calibri"/>
              </a:rPr>
              <a:t>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73552" y="1161288"/>
            <a:ext cx="2587752" cy="11887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2. População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Residentes com ≥ 18 anos de uma comunidade rural do distrito de Monapo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1304" y="1554480"/>
            <a:ext cx="18288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F81BD"/>
                </a:solidFill>
                <a:latin typeface="Calibri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44184" y="1161288"/>
            <a:ext cx="2587752" cy="11887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3. Amostragem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Probabilística por conglomerados, em duas etapas — não por conveniência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87752"/>
            <a:ext cx="2587752" cy="11887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4. 1.ª etapa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Selecção ALEATÓRIA de conglomerados (bairros, aldeias, povoados)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980944"/>
            <a:ext cx="18288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F81BD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2587752"/>
            <a:ext cx="2587752" cy="11887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5. 2.ª etapa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Selecção SISTEMÁTICA de agregados; em cada agregado, um adulto elegível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1304" y="2980944"/>
            <a:ext cx="18288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F81BD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2587752"/>
            <a:ext cx="2587752" cy="11887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6. Elegibilidade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Residência há ≥ 6 meses · ≥ 18 anos · consentimento livre e esclarecido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8138160" cy="105156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Calibri"/>
              </a:rPr>
              <a:t>Justificação explícita e correcta: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 «a opção por amostragem probabilística,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em substituição da amostragem por conveniência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, é decisiva para garantir a representatividade e a validade externa dos resultados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e a legitimidade dos testes de associação previstos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349240"/>
            <a:ext cx="8138160" cy="77724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B03A2B"/>
                </a:solidFill>
                <a:latin typeface="Calibri"/>
              </a:rPr>
              <a:t>A corrigir antes da submissão: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o cálculo do tamanho da amostra está incompleto e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falta o efeito de desenho (DEFF), obrigatório em amostragem por conglomerados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O CÁLCULO DA AMOSTRA — O QUE FALTA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sp>
        <p:nvSpPr>
          <p:cNvPr id="4" name="Rounded Rectangle 3"/>
          <p:cNvSpPr/>
          <p:nvPr/>
        </p:nvSpPr>
        <p:spPr>
          <a:xfrm>
            <a:off x="502920" y="1225295"/>
            <a:ext cx="8138160" cy="7315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n₀ = Z² × p × (1−p) ÷ d²   →   com Z = 1,96, p = 0,5 e d = 0,05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n₀ ≈ 385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167127"/>
            <a:ext cx="402336" cy="40233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103120"/>
            <a:ext cx="7479792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Explicitar Z, p e d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justificando p = 0,5 (conservador, maximiza a amostra) ou usando um valor da literatura, como os 51 % de bom conhecimento de Gebretnsae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770632"/>
            <a:ext cx="402336" cy="40233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706624"/>
            <a:ext cx="7479792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Aplicar o efeito de desenho (DEFF)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obrigatório em conglomerados; o habitual é 1,5 a 2,0, o que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multiplica a amostra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(385 × 2 =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770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)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374136"/>
            <a:ext cx="402336" cy="40233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310128"/>
            <a:ext cx="7479792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Calibri"/>
              </a:rPr>
              <a:t>Acrescentar margem para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não respostas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(10 %)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977640"/>
            <a:ext cx="402336" cy="40233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913632"/>
            <a:ext cx="7479792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Calibri"/>
              </a:rPr>
              <a:t>Indicar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quantos conglomerados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e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quantos agregados por conglomerado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7200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Sem o DEFF a amostra fica subdimensionada e os testes de associação perdem poder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 — é a primeira coisa que um revisor metodológico vai apontar.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669280"/>
            <a:ext cx="8138160" cy="5029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F497D"/>
                </a:solidFill>
                <a:latin typeface="Calibri"/>
              </a:rPr>
              <a:t>Regra de decisão a manter: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se o universo elegível for ≤ ao tamanho calculado → censo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INSTRUMENTO E CLASSIFICAÇÃO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41605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Adaptado de três fontes validadas — não construído de raiz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416052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Glaucoma Knowledge Level Questionnaire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(Demirtas, 2018)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PEPC-KAPQ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— questionário parental de CAP em problemas oculares (Ghani, 2023)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Módulo de barreiras da metodologia RAAB, 7.ª versão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(McCormick, 2024) — para práticas e barreiras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8928" y="1078992"/>
            <a:ext cx="350215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Pontos de corte de Bloom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38928" y="1426464"/>
          <a:ext cx="3502152" cy="1271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51076"/>
                <a:gridCol w="1751076"/>
              </a:tblGrid>
              <a:tr h="33832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Classificação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Bom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≥ 80 % da pontuação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Moderado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60 – 79 %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Fraco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B03A2B"/>
                          </a:solidFill>
                          <a:latin typeface="Calibri"/>
                        </a:rPr>
                        <a:t>&lt; 60 %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06324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Calibri"/>
              </a:rPr>
              <a:t>Detalhe técnico que mostra domínio: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 usar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KR-20 (Kuder-Richardson 20) para os itens dicotómicos de conhecimento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 e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alfa de Cronbach para as escalas de atitudes e práticas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 é a escolha estatisticamente correcta — muitos trabalhos usam Cronbach para tudo. Critério: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≥ 0,70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 em ambos.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24528"/>
            <a:ext cx="81381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Recolha adaptada ao contexto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53712"/>
            <a:ext cx="813816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F81BD"/>
              </a:buClr>
              <a:buFont typeface="Wingdings"/>
              <a:buChar char="q"/>
            </a:pPr>
            <a:r>
              <a:rPr sz="1400" b="1" i="0">
                <a:solidFill>
                  <a:srgbClr val="1A1A1A"/>
                </a:solidFill>
                <a:latin typeface="Calibri"/>
              </a:rPr>
              <a:t>Entrevista estruturada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conduzida por entrevistadores treinados,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em Emakhuwa ou em português simplificado, à escolha do participante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F81BD"/>
              </a:buClr>
              <a:buFont typeface="Wingdings"/>
              <a:buChar char="q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Justificação: «a entrevista estruturada é a técnica mais adequada em contextos de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baixa alfabetização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, por garantir a compreensão das perguntas, reduzir os erros de interpretação e assegurar uma taxa de resposta elevada».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F81BD"/>
              </a:buClr>
              <a:buFont typeface="Wingdings"/>
              <a:buChar char="q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Registo em formulário impresso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ou electrónico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(</a:t>
            </a:r>
            <a:r>
              <a:rPr sz="1400" b="0" i="1">
                <a:solidFill>
                  <a:srgbClr val="1A1A1A"/>
                </a:solidFill>
                <a:latin typeface="Calibri"/>
              </a:rPr>
              <a:t>tablet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ou telemóvel) quando disponível.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ANÁLISE E CONSIDERAÇÕES ÉTICAS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40416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Plano de análise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4041648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Descritiva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— frequências e medidas de tendência central; prevalências com IC 95 %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Qui-quadrado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(ou Fisher) para associação entre variáveis categóricas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Regressão logística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com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aOR e IC 95 %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, para ajustar confundimento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Software: SPSS ou equivalente livre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9432" y="1078992"/>
            <a:ext cx="40416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Salvaguardas éticas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9432" y="1426464"/>
            <a:ext cx="4041648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Aprovação do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CIBS-UniLúrio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e, quando aplicável, do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CNBS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Autorizações das autoridades distritais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+ assentimento dos líderes comunitários e tradicionais (régulos)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Para quem não saiba ler nem escrever: impressão digital na presença de testemunha imparcial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Codificação dos questionários e acesso restrito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8138160" cy="123444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O melhor elemento ético do protocolo</a:t>
            </a:r>
          </a:p>
          <a:p>
            <a:pPr algn="ctr"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Via de referenciação: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os participantes em que forem identificadas queixas ou sinais oculares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serão encaminhados, com o seu acordo, para a unidade sanitária de Monapo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— assegurando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benefício directo da participação e o dever de cuidado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12064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F497D"/>
                </a:solidFill>
                <a:latin typeface="Calibri"/>
              </a:rPr>
              <a:t>Num estudo puramente observacional o participante normalmente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não retira benefício directo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. Aqui retira — e isso deve ser destacado na defesa.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Nota: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 o estudo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não mede a acuidade visual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 (isso já foi feito pelos RAAB de 2011 e 2018); mede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o que as pessoas sabem, sentem e fazem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ESTADO DA ARTE — O PADRÃO RECORRENTE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25295"/>
          <a:ext cx="8138158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7358"/>
                <a:gridCol w="1826933"/>
                <a:gridCol w="365386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Estudo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País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Achado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Fikrie 2021 (n = 586)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Etiópia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Bom conhecimento 64,7 %; atitude positiva 35,3 %; residência rural AOR 0,19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Samuel 2021 (n = 623)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Etiópia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Bom conhecimento 54,9 %; iliteracia AOR 0,10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Olawoye 2022 (n = 120)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Nigéria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Só 5,8 % com bom conhecimento de glaucoma; escolaridade AOR 8,76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Du 2022 (n = 1.495)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China rural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97D"/>
                          </a:solidFill>
                          <a:latin typeface="Calibri"/>
                        </a:rPr>
                        <a:t>Bom conhecimento 62,9 %; associado a cirurgia OR 4,92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Gebretnsae 2020 (n = 194)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Etiópia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Conhecimento 51 %; atitude 49,5 %; práticas apenas 35,6 %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Yirdaw 2024 (n = 400)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Etiópia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Conhecimento 74,0 %; práticas 71,5 %; conhecimento→prática AOR 4,87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Abumhadi 2024 (n = 241)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Sudão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Atitude favorável 79,3 %, mas exame regular só 27,8 %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Sengo 2022 (n = 338)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Moçambique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B03A2B"/>
                          </a:solidFill>
                          <a:latin typeface="Calibri"/>
                        </a:rPr>
                        <a:t>Sintomas 49,4 %; sem exame 41,7 %; automedicação 20,4 %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840480"/>
            <a:ext cx="8138160" cy="123444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A melhor síntese do quadro</a:t>
            </a:r>
          </a:p>
          <a:p>
            <a:pPr algn="ctr"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Calibri"/>
              </a:rPr>
              <a:t>«O conhecimento é frequentemente moderado,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as atitudes tendem a ser mais favoráveis do que as práticas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, e a escolaridade surge sistematicamente como factor associado a melhores resultados.» —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É esse fosso atitude→prática que um inquérito CAP existe para medir.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212080"/>
            <a:ext cx="813816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Wingdings"/>
              <a:buChar char="q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As razões de adiamento da cirurgia não são só económicas — são também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culturais e cognitivas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: gerir o quotidiano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com a visão de um só olho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,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esperar que a catarata «amadureça»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, medo de complicações e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aguardar campanhas gratuitas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RESULTADOS ESPERADOS E ORÇAMENTO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41605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Resultados esperados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4160520" cy="2788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Perfil sociodemográfico e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nível de conhecimento, com as lacunas de informação identificadas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Atitudes predominantes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perante a consulta oftalmológica e a higiene ocular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Práticas e barreiras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— automedicação, medicina tradicional, dificuldades financeiras e de distância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Associação entre instrução e práticas de prevenção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, testando as hipóteses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4F81BD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Recomendações de intervenção educativa adaptadas ao contexto local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, dirigidas a profissionais, autoridades e instituições académicas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8928" y="1078992"/>
            <a:ext cx="350215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Calibri"/>
              </a:rPr>
              <a:t>Orçamento — 125.000 MZN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38928" y="1426464"/>
          <a:ext cx="3502151" cy="2862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6209"/>
                <a:gridCol w="110594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Rubrica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MZN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Honorários de entrevistadores (4)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97D"/>
                          </a:solidFill>
                          <a:latin typeface="Calibri"/>
                        </a:rPr>
                        <a:t>48.000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Impressão de questionários (700)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21.000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Transporte (12 deslocações)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18.000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Impressão e encadernação (10)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12.000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Alimentação no terreno (20 dias)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10.000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Comunicação (4 meses)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8.000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Análise de dados e software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5.000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Material de escritório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3.000</a:t>
                      </a:r>
                    </a:p>
                  </a:txBody>
                  <a:tcPr marL="64008" marR="64008" marT="18288" marB="18288" anchor="ctr">
                    <a:solidFill>
                      <a:srgbClr val="DCE6F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97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97D"/>
                          </a:solidFill>
                          <a:latin typeface="Calibri"/>
                        </a:rPr>
                        <a:t>125.000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34340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Calibri"/>
              </a:rPr>
              <a:t>Cronograma: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 Set/2026 a Dez/2027 — protocolo → aprovação ética → adaptação e validação do instrumento →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pré-teste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 →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recolha entre Abril e Setembro de 2027</a:t>
            </a:r>
            <a:r>
              <a:rPr sz="1400" b="0" i="0">
                <a:solidFill>
                  <a:srgbClr val="1F497D"/>
                </a:solidFill>
                <a:latin typeface="Calibri"/>
              </a:rPr>
              <a:t> → análise → redacção.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86400"/>
            <a:ext cx="8138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595959"/>
                </a:solidFill>
                <a:latin typeface="Calibri"/>
              </a:rPr>
              <a:t>Os honorários dos entrevistadores são a maior rubrica e serão escrutinados: ter pronta a justificação (4 entrevistadores × 12.000 MZN — dias no terreno, formação prévia e deslocações).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2900" b="1" i="0">
                <a:solidFill>
                  <a:srgbClr val="000000"/>
                </a:solidFill>
                <a:latin typeface="Calibri"/>
              </a:rPr>
              <a:t>PONTOS A ULTIMAR ANTES DA SUBMISSÃO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39319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B03A2B"/>
                </a:solidFill>
                <a:latin typeface="Calibri"/>
              </a:rPr>
              <a:t>A corrigir no documento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3931920" cy="4133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B03A2B"/>
              </a:buClr>
              <a:buFont typeface="Wingdings"/>
              <a:buChar char="q"/>
            </a:pPr>
            <a:r>
              <a:rPr sz="1350" b="1" i="0">
                <a:solidFill>
                  <a:srgbClr val="B03A2B"/>
                </a:solidFill>
                <a:latin typeface="Calibri"/>
              </a:rPr>
              <a:t>PRIORIDADE 1: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completar o cálculo do tamanho da amostra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, com valores, resultado,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efeito de desenho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e margem para não respostas.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B03A2B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ABSTRACT vazio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— o RESUMO está escrito e é bom; falta traduzir.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B03A2B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Declaração do Orientador vazia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e folha de rosto com «Orientador: Dr.», sem nome.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B03A2B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ÍNDICE vazio.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B03A2B"/>
              </a:buClr>
              <a:buFont typeface="Wingdings"/>
              <a:buChar char="q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Uniformizar a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operacionalização das atitudes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: o Quadro 2 usa favorável/indiferente/desfavorável, mas o texto usa os pontos de corte de Bloom.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B03A2B"/>
              </a:buClr>
              <a:buFont typeface="Wingdings"/>
              <a:buChar char="q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Confirmar que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todas as referências temporais dizem 2027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097280"/>
            <a:ext cx="3840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E7D32"/>
                </a:solidFill>
                <a:latin typeface="Calibri"/>
              </a:rPr>
              <a:t>Pontos fortes a destacar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444752"/>
            <a:ext cx="3840480" cy="4133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E7D32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Amostragem probabilística por conglomerados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, com justificação explícita contra a conveniência.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E7D32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Instrumento adaptado de três fontes validadas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, não construído de raiz.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E7D32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KR-20 para itens dicotómicos + Cronbach para escalas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— escolha tecnicamente correcta.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E7D32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Reporte segundo o ChecKAP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e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pontos de corte de Bloom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— critérios padronizados e comparáveis internacionalmente.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E7D32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Entrevista em Emakhuwa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e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consentimento por impressão digital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— adaptação real ao contexto.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E7D32"/>
              </a:buClr>
              <a:buFont typeface="Wingdings"/>
              <a:buChar char="q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Assentimento dos régulos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e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via de referenciação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008" y="27432"/>
            <a:ext cx="7452360" cy="841248"/>
          </a:xfrm>
        </p:spPr>
        <p:txBody>
          <a:bodyPr wrap="square" anchor="ctr" lIns="18288"/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BIBLIOGRAFIA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8138160" cy="4892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1. World Health Organization. World report on vision. Geneva: WHO; 2019.</a:t>
            </a:r>
          </a:p>
          <a:p>
            <a:pPr algn="l" marL="0" indent="0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2. GBD 2019 Blindness and Vision Impairment Collaborators. Causes of blindness and vision impairment in 2020 and trends over 30 years. Lancet Glob Health. 2021;9(2):e144-60.</a:t>
            </a:r>
          </a:p>
          <a:p>
            <a:pPr algn="l" marL="0" indent="0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3. World Health Assembly. Integrated people-centred eye care, including preventable vision impairment and blindness: global targets for 2030. Geneva: WHO; 2021.</a:t>
            </a:r>
          </a:p>
          <a:p>
            <a:pPr algn="l" marL="0" indent="0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4. Jolley E, Buttan S, Engels T, et al. Rapid assessment of avoidable blindness in Nampula province, Mozambique. Ophthalmic Epidemiol. 2022;29(3):251-60.</a:t>
            </a:r>
          </a:p>
          <a:p>
            <a:pPr algn="l" marL="0" indent="0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5. Thompson S, Naidoo K, Gonzalez-Alvarez C, et al. Barriers to use of refractive services in Mozambique. Optom Vis Sci. 2015;92(1):59-69.</a:t>
            </a:r>
          </a:p>
          <a:p>
            <a:pPr algn="l" marL="0" indent="0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6. Sengo DB, Dos Santos IIB, Faria N, et al. Prevalence of visual impairment and refractive errors in children in Nampula, Mozambique. Int J Environ Res Public Health. 2021;18(19):10275.</a:t>
            </a:r>
          </a:p>
          <a:p>
            <a:pPr algn="l" marL="0" indent="0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7. Du YF, Liu HR, Zhang Y, et al. Knowledge, attitude and practice towards cataract among rural residents in China. BMC Public Health. 2022;22(1):1063.</a:t>
            </a:r>
          </a:p>
          <a:p>
            <a:pPr algn="l" marL="0" indent="0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8. Demirtas S, Ozkurt ZG, Bozkurt E. Development and validation of a glaucoma knowledge level questionnaire. Int Ophthalmol. 2018;38(4):1479-86.</a:t>
            </a:r>
          </a:p>
          <a:p>
            <a:pPr algn="l" marL="0" indent="0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9. McCormick I, Butcher R, Ramke J, et al. Rapid Assessment of Avoidable Blindness (RAAB) 7: methodology update. Ophthalmic Epidemiol. 2024;31(2):101-9.</a:t>
            </a:r>
          </a:p>
          <a:p>
            <a:pPr algn="l" marL="0" indent="0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10. Ministério da Saúde de Moçambique. Inquérito nacional de tracoma. Maputo: MISAU; 2022.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25895"/>
            <a:ext cx="8138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595959"/>
                </a:solidFill>
                <a:latin typeface="Calibri"/>
              </a:rPr>
              <a:t>Selecção das principais referências, em norma Vancouver.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56248" y="6291072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4D7C9E1-1111-4C21-9E1A-1A2B3C4D5E6F}" type="slidenum">
              <a:rPr lang="pt-PT" sz="1200">
                <a:solidFill>
                  <a:srgbClr val="808080"/>
                </a:solidFill>
                <a:latin typeface="Calibri"/>
              </a:rPr>
              <a:t>2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8138160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>
                <a:solidFill>
                  <a:srgbClr val="1F497D"/>
                </a:solidFill>
                <a:latin typeface="Calibri"/>
              </a:rPr>
              <a:t>Obrigado pela atenção dispensada!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8138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i="0">
                <a:solidFill>
                  <a:srgbClr val="1A1A1A"/>
                </a:solidFill>
                <a:latin typeface="Calibri"/>
              </a:rPr>
              <a:t>Muanchura Ossufo Sualehé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Orientador: (a preencher)  ·  Nampula,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25573</TotalTime>
  <Words>138</Words>
  <Application>Microsoft Office PowerPoint</Application>
  <PresentationFormat>Apresentação na tela (4:3)</PresentationFormat>
  <Paragraphs>48</Paragraphs>
  <Slides>15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Wingdings</vt:lpstr>
      <vt:lpstr>Tema do Office</vt:lpstr>
      <vt:lpstr>  Produção de creme facial de Mussiro (Olax dissitiflora) para prevenção do envelhecimento da pele facial  </vt:lpstr>
      <vt:lpstr> INTRODUÇÃO </vt:lpstr>
      <vt:lpstr>Problematização</vt:lpstr>
      <vt:lpstr> Pergunta de pesquisa  </vt:lpstr>
      <vt:lpstr> OBJECTIVOS </vt:lpstr>
      <vt:lpstr> OBJECTIVOS </vt:lpstr>
      <vt:lpstr> METODOLOGIA </vt:lpstr>
      <vt:lpstr> METODOLOGIA </vt:lpstr>
      <vt:lpstr> ANÁLISE E DISCUSSÃO DOS RESULTADOS </vt:lpstr>
      <vt:lpstr> ANÁLISE E DISCUSSÃO DOS RESULTADOS </vt:lpstr>
      <vt:lpstr> ANÁLISE E DISCUSSÃO DOS RESULTADOS </vt:lpstr>
      <vt:lpstr> ANÁLISE E DISCUSSÃO DOS RESULTADOS </vt:lpstr>
      <vt:lpstr> ANÁLISE E DISCUSSÃO DOS RESULTADOS </vt:lpstr>
      <vt:lpstr>CONCLUSÃO</vt:lpstr>
      <vt:lpstr>Obrigada pela  atenção dispensada!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SBIM</dc:creator>
  <cp:lastModifiedBy>Hamza Daudo</cp:lastModifiedBy>
  <cp:revision>616</cp:revision>
  <cp:lastPrinted>2026-01-02T06:21:57Z</cp:lastPrinted>
  <dcterms:created xsi:type="dcterms:W3CDTF">2011-12-15T11:59:06Z</dcterms:created>
  <dcterms:modified xsi:type="dcterms:W3CDTF">2026-07-27T20:32:52Z</dcterms:modified>
</cp:coreProperties>
</file>